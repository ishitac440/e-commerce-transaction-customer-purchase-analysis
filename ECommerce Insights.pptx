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media/image1.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2077200"/>
            <a:ext cx="3905640" cy="1807560"/>
          </a:xfrm>
          <a:prstGeom prst="rect">
            <a:avLst/>
          </a:prstGeom>
          <a:noFill/>
          <a:ln w="0">
            <a:noFill/>
          </a:ln>
        </p:spPr>
        <p:txBody>
          <a:bodyPr lIns="91440" rIns="91440" tIns="91440" bIns="91440" anchor="b">
            <a:noAutofit/>
          </a:bodyPr>
          <a:p>
            <a:pPr indent="0">
              <a:buNone/>
            </a:pPr>
            <a:r>
              <a:rPr b="0" lang="fr-FR" sz="3800" strike="noStrike" u="none">
                <a:solidFill>
                  <a:schemeClr val="dk1"/>
                </a:solidFill>
                <a:effectLst/>
                <a:uFillTx/>
                <a:latin typeface="Arial"/>
              </a:rPr>
              <a:t>Click to edit the title text format</a:t>
            </a:r>
            <a:endParaRPr b="0" lang="fr-FR" sz="3800" strike="noStrike" u="none">
              <a:solidFill>
                <a:schemeClr val="dk1"/>
              </a:solidFill>
              <a:effectLst/>
              <a:uFillTx/>
              <a:latin typeface="Arial"/>
            </a:endParaRPr>
          </a:p>
        </p:txBody>
      </p:sp>
      <p:sp>
        <p:nvSpPr>
          <p:cNvPr id="3" name="PlaceHolder 2"/>
          <p:cNvSpPr>
            <a:spLocks noGrp="1"/>
          </p:cNvSpPr>
          <p:nvPr>
            <p:ph type="body"/>
          </p:nvPr>
        </p:nvSpPr>
        <p:spPr>
          <a:xfrm>
            <a:off x="5438880" y="539280"/>
            <a:ext cx="3705120" cy="40759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 name="Google Shape;12;p2"/>
          <p:cNvSpPr/>
          <p:nvPr/>
        </p:nvSpPr>
        <p:spPr>
          <a:xfrm rot="2198400">
            <a:off x="412920" y="639000"/>
            <a:ext cx="2030400" cy="1086840"/>
          </a:xfrm>
          <a:prstGeom prst="ellipse">
            <a:avLst/>
          </a:prstGeom>
          <a:solidFill>
            <a:schemeClr val="lt1"/>
          </a:solidFill>
          <a:ln w="9525">
            <a:solidFill>
              <a:srgbClr val="294e4e"/>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body"/>
          </p:nvPr>
        </p:nvSpPr>
        <p:spPr>
          <a:xfrm>
            <a:off x="720000" y="2138760"/>
            <a:ext cx="7461000" cy="22928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6" name="PlaceHolder 2"/>
          <p:cNvSpPr>
            <a:spLocks noGrp="1"/>
          </p:cNvSpPr>
          <p:nvPr>
            <p:ph type="title"/>
          </p:nvPr>
        </p:nvSpPr>
        <p:spPr>
          <a:xfrm>
            <a:off x="720000" y="774000"/>
            <a:ext cx="7461000" cy="113580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cxnSp>
        <p:nvCxnSpPr>
          <p:cNvPr id="7" name="Google Shape;90;p16"/>
          <p:cNvCxnSpPr/>
          <p:nvPr/>
        </p:nvCxnSpPr>
        <p:spPr>
          <a:xfrm flipH="1">
            <a:off x="5344200" y="259920"/>
            <a:ext cx="3800160" cy="360"/>
          </a:xfrm>
          <a:prstGeom prst="straightConnector1">
            <a:avLst/>
          </a:prstGeom>
          <a:ln w="9525">
            <a:solidFill>
              <a:srgbClr val="294e4e"/>
            </a:solidFill>
            <a:round/>
          </a:ln>
        </p:spPr>
      </p:cxnSp>
      <p:cxnSp>
        <p:nvCxnSpPr>
          <p:cNvPr id="8" name="Google Shape;91;p16"/>
          <p:cNvCxnSpPr/>
          <p:nvPr/>
        </p:nvCxnSpPr>
        <p:spPr>
          <a:xfrm flipV="1">
            <a:off x="-475200" y="-1540080"/>
            <a:ext cx="1256040" cy="4686840"/>
          </a:xfrm>
          <a:prstGeom prst="straightConnector1">
            <a:avLst/>
          </a:prstGeom>
          <a:ln w="9525">
            <a:solidFill>
              <a:srgbClr val="294e4e"/>
            </a:solidFill>
            <a:round/>
          </a:ln>
        </p:spPr>
      </p:cxnSp>
      <p:cxnSp>
        <p:nvCxnSpPr>
          <p:cNvPr id="9" name="Google Shape;92;p16"/>
          <p:cNvCxnSpPr/>
          <p:nvPr/>
        </p:nvCxnSpPr>
        <p:spPr>
          <a:xfrm flipV="1">
            <a:off x="7965360" y="2616480"/>
            <a:ext cx="1256040" cy="4687560"/>
          </a:xfrm>
          <a:prstGeom prst="straightConnector1">
            <a:avLst/>
          </a:prstGeom>
          <a:ln w="9525">
            <a:solidFill>
              <a:srgbClr val="294e4e"/>
            </a:solidFill>
            <a:round/>
          </a:ln>
        </p:spPr>
      </p:cxn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
    <p:bg>
      <p:bgPr>
        <a:solidFill>
          <a:schemeClr val="lt2"/>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2514600" y="539280"/>
            <a:ext cx="4114440" cy="872640"/>
          </a:xfrm>
          <a:prstGeom prst="rect">
            <a:avLst/>
          </a:prstGeom>
          <a:noFill/>
          <a:ln w="0">
            <a:noFill/>
          </a:ln>
        </p:spPr>
        <p:txBody>
          <a:bodyPr lIns="91440" rIns="91440" tIns="91440" bIns="91440" anchor="b">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11" name="Google Shape;181;p27"/>
          <p:cNvSpPr/>
          <p:nvPr/>
        </p:nvSpPr>
        <p:spPr>
          <a:xfrm>
            <a:off x="2908080" y="3573720"/>
            <a:ext cx="3327840" cy="615240"/>
          </a:xfrm>
          <a:prstGeom prst="rect">
            <a:avLst/>
          </a:prstGeom>
          <a:noFill/>
          <a:ln w="0">
            <a:noFill/>
          </a:ln>
        </p:spPr>
        <p:style>
          <a:lnRef idx="0"/>
          <a:fillRef idx="0"/>
          <a:effectRef idx="0"/>
          <a:fontRef idx="minor"/>
        </p:style>
        <p:txBody>
          <a:bodyPr tIns="91440" bIns="91440" anchor="b">
            <a:noAutofit/>
          </a:bodyPr>
          <a:p>
            <a:pPr algn="ctr" defTabSz="914400">
              <a:lnSpc>
                <a:spcPct val="115000"/>
              </a:lnSpc>
              <a:spcBef>
                <a:spcPts val="300"/>
              </a:spcBef>
              <a:tabLst>
                <a:tab algn="l" pos="0"/>
              </a:tabLst>
            </a:pPr>
            <a:r>
              <a:rPr b="0" lang="en" sz="1000" strike="noStrike" u="none">
                <a:solidFill>
                  <a:schemeClr val="lt1"/>
                </a:solidFill>
                <a:effectLst/>
                <a:uFillTx/>
                <a:latin typeface="Cabin"/>
                <a:ea typeface="Cabin"/>
              </a:rPr>
              <a:t>CREDITS: This presentation template was created by </a:t>
            </a:r>
            <a:r>
              <a:rPr b="1" lang="en" sz="1000" strike="noStrike" u="sng">
                <a:solidFill>
                  <a:schemeClr val="lt1"/>
                </a:solidFill>
                <a:effectLst/>
                <a:uFillTx/>
                <a:latin typeface="Cabin"/>
                <a:ea typeface="Cabin"/>
                <a:hlinkClick r:id="rId2"/>
              </a:rPr>
              <a:t>Slidesgo</a:t>
            </a:r>
            <a:r>
              <a:rPr b="0" lang="en" sz="1000" strike="noStrike" u="none">
                <a:solidFill>
                  <a:schemeClr val="lt1"/>
                </a:solidFill>
                <a:effectLst/>
                <a:uFillTx/>
                <a:latin typeface="Cabin"/>
                <a:ea typeface="Cabin"/>
              </a:rPr>
              <a:t>, including icons, infographics &amp; images by </a:t>
            </a:r>
            <a:r>
              <a:rPr b="1" lang="en" sz="1000" strike="noStrike" u="sng">
                <a:solidFill>
                  <a:schemeClr val="lt1"/>
                </a:solidFill>
                <a:effectLst/>
                <a:uFillTx/>
                <a:latin typeface="Cabin"/>
                <a:ea typeface="Cabin"/>
                <a:hlinkClick r:id="rId3"/>
              </a:rPr>
              <a:t>Freepik</a:t>
            </a:r>
            <a:endParaRPr b="0" lang="en-US" sz="1000" strike="noStrike" u="none">
              <a:solidFill>
                <a:srgbClr val="ffffff"/>
              </a:solidFill>
              <a:effectLst/>
              <a:uFillTx/>
              <a:latin typeface="OpenSymbol"/>
            </a:endParaRPr>
          </a:p>
        </p:txBody>
      </p:sp>
      <p:sp>
        <p:nvSpPr>
          <p:cNvPr id="12" name="Google Shape;182;p27"/>
          <p:cNvSpPr/>
          <p:nvPr/>
        </p:nvSpPr>
        <p:spPr>
          <a:xfrm rot="2198400">
            <a:off x="6344640" y="-371520"/>
            <a:ext cx="2030400" cy="1086840"/>
          </a:xfrm>
          <a:prstGeom prst="ellipse">
            <a:avLst/>
          </a:prstGeom>
          <a:solidFill>
            <a:schemeClr val="lt2"/>
          </a:solidFill>
          <a:ln w="9525">
            <a:solidFill>
              <a:srgbClr val="f0ebe1"/>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13" name="Google Shape;183;p27"/>
          <p:cNvSpPr/>
          <p:nvPr/>
        </p:nvSpPr>
        <p:spPr>
          <a:xfrm rot="2198400">
            <a:off x="294840" y="4202640"/>
            <a:ext cx="2030400" cy="1086840"/>
          </a:xfrm>
          <a:prstGeom prst="ellipse">
            <a:avLst/>
          </a:prstGeom>
          <a:solidFill>
            <a:schemeClr val="lt2"/>
          </a:solidFill>
          <a:ln w="9525">
            <a:solidFill>
              <a:srgbClr val="f0ebe1"/>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720000" y="539280"/>
            <a:ext cx="7703640" cy="572400"/>
          </a:xfrm>
          <a:prstGeom prst="rect">
            <a:avLst/>
          </a:prstGeom>
          <a:noFill/>
          <a:ln w="0">
            <a:noFill/>
          </a:ln>
        </p:spPr>
        <p:txBody>
          <a:bodyPr lIns="91440" rIns="91440" tIns="91440" bIns="91440" anchor="t">
            <a:noAutofit/>
          </a:bodyPr>
          <a:p>
            <a:pPr indent="0">
              <a:buNone/>
            </a:pPr>
            <a:r>
              <a:rPr b="0" lang="fr-FR" sz="3200" strike="noStrike" u="none">
                <a:solidFill>
                  <a:schemeClr val="dk1"/>
                </a:solidFill>
                <a:effectLst/>
                <a:uFillTx/>
                <a:latin typeface="Arial"/>
              </a:rPr>
              <a:t>Click to edit the title text format</a:t>
            </a:r>
            <a:endParaRPr b="0" lang="fr-FR" sz="3200" strike="noStrike" u="none">
              <a:solidFill>
                <a:schemeClr val="dk1"/>
              </a:solidFill>
              <a:effectLst/>
              <a:uFillTx/>
              <a:latin typeface="Arial"/>
            </a:endParaRPr>
          </a:p>
        </p:txBody>
      </p:sp>
      <p:grpSp>
        <p:nvGrpSpPr>
          <p:cNvPr id="15" name="Google Shape;34;p6"/>
          <p:cNvGrpSpPr/>
          <p:nvPr/>
        </p:nvGrpSpPr>
        <p:grpSpPr>
          <a:xfrm>
            <a:off x="-289080" y="-1208160"/>
            <a:ext cx="9081720" cy="7677720"/>
            <a:chOff x="-289080" y="-1208160"/>
            <a:chExt cx="9081720" cy="7677720"/>
          </a:xfrm>
        </p:grpSpPr>
        <p:cxnSp>
          <p:nvCxnSpPr>
            <p:cNvPr id="16" name="Google Shape;35;p6"/>
            <p:cNvCxnSpPr/>
            <p:nvPr/>
          </p:nvCxnSpPr>
          <p:spPr>
            <a:xfrm flipV="1">
              <a:off x="8792640" y="772200"/>
              <a:ext cx="360" cy="5697720"/>
            </a:xfrm>
            <a:prstGeom prst="straightConnector1">
              <a:avLst/>
            </a:prstGeom>
            <a:ln w="9525">
              <a:solidFill>
                <a:srgbClr val="294e4e"/>
              </a:solidFill>
              <a:round/>
            </a:ln>
          </p:spPr>
        </p:cxnSp>
        <p:cxnSp>
          <p:nvCxnSpPr>
            <p:cNvPr id="17" name="Google Shape;36;p6"/>
            <p:cNvCxnSpPr/>
            <p:nvPr/>
          </p:nvCxnSpPr>
          <p:spPr>
            <a:xfrm flipV="1">
              <a:off x="-289080" y="-1208160"/>
              <a:ext cx="1255680" cy="4687200"/>
            </a:xfrm>
            <a:prstGeom prst="straightConnector1">
              <a:avLst/>
            </a:prstGeom>
            <a:ln w="9525">
              <a:solidFill>
                <a:srgbClr val="294e4e"/>
              </a:solidFill>
              <a:round/>
            </a:ln>
          </p:spPr>
        </p:cxnSp>
      </p:grpSp>
      <p:sp>
        <p:nvSpPr>
          <p:cNvPr id="1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 name="Google Shape;208;p34" descr=""/>
          <p:cNvPicPr/>
          <p:nvPr/>
        </p:nvPicPr>
        <p:blipFill>
          <a:blip r:embed="rId1"/>
          <a:stretch/>
        </p:blipFill>
        <p:spPr>
          <a:xfrm>
            <a:off x="5438880" y="542880"/>
            <a:ext cx="3704760" cy="4076280"/>
          </a:xfrm>
          <a:prstGeom prst="rect">
            <a:avLst/>
          </a:prstGeom>
          <a:noFill/>
          <a:ln w="0">
            <a:noFill/>
          </a:ln>
        </p:spPr>
      </p:pic>
      <p:cxnSp>
        <p:nvCxnSpPr>
          <p:cNvPr id="20" name="Google Shape;209;p34"/>
          <p:cNvCxnSpPr/>
          <p:nvPr/>
        </p:nvCxnSpPr>
        <p:spPr>
          <a:xfrm>
            <a:off x="789120" y="4055040"/>
            <a:ext cx="3389400" cy="360"/>
          </a:xfrm>
          <a:prstGeom prst="straightConnector1">
            <a:avLst/>
          </a:prstGeom>
          <a:ln w="9525">
            <a:solidFill>
              <a:srgbClr val="294e4e"/>
            </a:solidFill>
            <a:round/>
          </a:ln>
        </p:spPr>
      </p:cxnSp>
      <p:cxnSp>
        <p:nvCxnSpPr>
          <p:cNvPr id="21" name="Google Shape;210;p34"/>
          <p:cNvCxnSpPr/>
          <p:nvPr/>
        </p:nvCxnSpPr>
        <p:spPr>
          <a:xfrm flipH="1">
            <a:off x="4618800" y="539280"/>
            <a:ext cx="619560" cy="4076640"/>
          </a:xfrm>
          <a:prstGeom prst="straightConnector1">
            <a:avLst/>
          </a:prstGeom>
          <a:ln w="9525">
            <a:solidFill>
              <a:srgbClr val="294e4e"/>
            </a:solidFill>
            <a:round/>
          </a:ln>
        </p:spPr>
      </p:cxnSp>
      <p:sp>
        <p:nvSpPr>
          <p:cNvPr id="22" name=""/>
          <p:cNvSpPr/>
          <p:nvPr/>
        </p:nvSpPr>
        <p:spPr>
          <a:xfrm>
            <a:off x="714240" y="2076480"/>
            <a:ext cx="3904920" cy="961560"/>
          </a:xfrm>
          <a:prstGeom prst="rect">
            <a:avLst/>
          </a:prstGeom>
          <a:noFill/>
          <a:ln w="0">
            <a:noFill/>
          </a:ln>
        </p:spPr>
        <p:style>
          <a:lnRef idx="0"/>
          <a:fillRef idx="0"/>
          <a:effectRef idx="0"/>
          <a:fontRef idx="minor"/>
        </p:style>
        <p:txBody>
          <a:bodyPr anchor="b">
            <a:normAutofit/>
          </a:bodyPr>
          <a:p>
            <a:pPr defTabSz="914400">
              <a:lnSpc>
                <a:spcPct val="100000"/>
              </a:lnSpc>
              <a:tabLst>
                <a:tab algn="l" pos="0"/>
              </a:tabLst>
            </a:pPr>
            <a:r>
              <a:rPr b="0" lang="en-US" sz="3800" strike="noStrike" u="none">
                <a:solidFill>
                  <a:srgbClr val="232121"/>
                </a:solidFill>
                <a:effectLst/>
                <a:uFillTx/>
                <a:latin typeface="EB Garamond"/>
              </a:rPr>
              <a:t>E‑Commerce Insights</a:t>
            </a:r>
            <a:endParaRPr b="0" lang="en-US" sz="3800" strike="noStrike" u="none">
              <a:solidFill>
                <a:srgbClr val="000000"/>
              </a:solidFill>
              <a:effectLst/>
              <a:uFillTx/>
              <a:latin typeface="OpenSymbol"/>
            </a:endParaRPr>
          </a:p>
        </p:txBody>
      </p:sp>
      <p:sp>
        <p:nvSpPr>
          <p:cNvPr id="23" name=""/>
          <p:cNvSpPr/>
          <p:nvPr/>
        </p:nvSpPr>
        <p:spPr>
          <a:xfrm>
            <a:off x="714240" y="4124160"/>
            <a:ext cx="3628800" cy="1066320"/>
          </a:xfrm>
          <a:prstGeom prst="rect">
            <a:avLst/>
          </a:prstGeom>
          <a:noFill/>
          <a:ln w="0">
            <a:noFill/>
          </a:ln>
        </p:spPr>
        <p:style>
          <a:lnRef idx="0"/>
          <a:fillRef idx="0"/>
          <a:effectRef idx="0"/>
          <a:fontRef idx="minor"/>
        </p:style>
        <p:txBody>
          <a:bodyPr anchor="t">
            <a:normAutofit fontScale="92500" lnSpcReduction="9999"/>
          </a:bodyPr>
          <a:p>
            <a:pPr defTabSz="914400">
              <a:lnSpc>
                <a:spcPct val="150000"/>
              </a:lnSpc>
              <a:tabLst>
                <a:tab algn="l" pos="0"/>
              </a:tabLst>
            </a:pPr>
            <a:r>
              <a:rPr b="0" lang="en-US" sz="1600" strike="noStrike" u="none">
                <a:solidFill>
                  <a:srgbClr val="232121"/>
                </a:solidFill>
                <a:effectLst/>
                <a:uFillTx/>
                <a:latin typeface="Cabin"/>
              </a:rPr>
              <a:t>Transactions analysis highlighting top categories, segments, countries, and payment behavior</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
          <p:cNvSpPr/>
          <p:nvPr/>
        </p:nvSpPr>
        <p:spPr>
          <a:xfrm>
            <a:off x="723960" y="2143080"/>
            <a:ext cx="7457760" cy="14857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232121"/>
                </a:solidFill>
                <a:effectLst/>
                <a:uFillTx/>
                <a:latin typeface="Cabin"/>
              </a:rPr>
              <a:t>This question asks which categories, segments, countries, payment methods, and months generate the highest purchase value. Understanding these drivers lets us prioritize actions that lift revenue and improve efficiency across product mix and marketing. The goal is to translate patterns into focused category bets, country plans, payment optimizations, and seasonal sales planning.</a:t>
            </a:r>
            <a:endParaRPr b="0" lang="en-US" sz="1400" strike="noStrike" u="none">
              <a:solidFill>
                <a:srgbClr val="000000"/>
              </a:solidFill>
              <a:effectLst/>
              <a:uFillTx/>
              <a:latin typeface="OpenSymbol"/>
            </a:endParaRPr>
          </a:p>
        </p:txBody>
      </p:sp>
      <p:sp>
        <p:nvSpPr>
          <p:cNvPr id="25" name=""/>
          <p:cNvSpPr/>
          <p:nvPr/>
        </p:nvSpPr>
        <p:spPr>
          <a:xfrm>
            <a:off x="723960" y="771480"/>
            <a:ext cx="7457760" cy="380520"/>
          </a:xfrm>
          <a:prstGeom prst="rect">
            <a:avLst/>
          </a:prstGeom>
          <a:noFill/>
          <a:ln w="0">
            <a:noFill/>
          </a:ln>
        </p:spPr>
        <p:style>
          <a:lnRef idx="0"/>
          <a:fillRef idx="0"/>
          <a:effectRef idx="0"/>
          <a:fontRef idx="minor"/>
        </p:style>
        <p:txBody>
          <a:bodyPr anchor="b">
            <a:normAutofit fontScale="77500" lnSpcReduction="19999"/>
          </a:bodyPr>
          <a:p>
            <a:pPr defTabSz="914400">
              <a:lnSpc>
                <a:spcPct val="100000"/>
              </a:lnSpc>
              <a:tabLst>
                <a:tab algn="l" pos="0"/>
              </a:tabLst>
            </a:pPr>
            <a:r>
              <a:rPr b="0" lang="en-US" sz="3000" strike="noStrike" u="none">
                <a:solidFill>
                  <a:srgbClr val="232121"/>
                </a:solidFill>
                <a:effectLst/>
                <a:uFillTx/>
                <a:latin typeface="EB Garamond"/>
              </a:rPr>
              <a:t>Value Drivers Matter</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
          <p:cNvSpPr/>
          <p:nvPr/>
        </p:nvSpPr>
        <p:spPr>
          <a:xfrm>
            <a:off x="1724040" y="2104920"/>
            <a:ext cx="114120" cy="9000"/>
          </a:xfrm>
          <a:prstGeom prst="roundRect">
            <a:avLst>
              <a:gd name="adj" fmla="val 16667"/>
            </a:avLst>
          </a:prstGeom>
          <a:solidFill>
            <a:srgbClr val="294e4e"/>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7" name=""/>
          <p:cNvSpPr/>
          <p:nvPr/>
        </p:nvSpPr>
        <p:spPr>
          <a:xfrm>
            <a:off x="3086280" y="2104920"/>
            <a:ext cx="114120" cy="9000"/>
          </a:xfrm>
          <a:prstGeom prst="roundRect">
            <a:avLst>
              <a:gd name="adj" fmla="val 16667"/>
            </a:avLst>
          </a:prstGeom>
          <a:solidFill>
            <a:srgbClr val="294e4e"/>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8" name=""/>
          <p:cNvSpPr/>
          <p:nvPr/>
        </p:nvSpPr>
        <p:spPr>
          <a:xfrm>
            <a:off x="4448160" y="2104920"/>
            <a:ext cx="114120" cy="9000"/>
          </a:xfrm>
          <a:prstGeom prst="roundRect">
            <a:avLst>
              <a:gd name="adj" fmla="val 16667"/>
            </a:avLst>
          </a:prstGeom>
          <a:solidFill>
            <a:srgbClr val="294e4e"/>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29" name=""/>
          <p:cNvSpPr/>
          <p:nvPr/>
        </p:nvSpPr>
        <p:spPr>
          <a:xfrm>
            <a:off x="5810400" y="2104920"/>
            <a:ext cx="114120" cy="9000"/>
          </a:xfrm>
          <a:prstGeom prst="roundRect">
            <a:avLst>
              <a:gd name="adj" fmla="val 16667"/>
            </a:avLst>
          </a:prstGeom>
          <a:solidFill>
            <a:srgbClr val="294e4e"/>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0" name=""/>
          <p:cNvSpPr/>
          <p:nvPr/>
        </p:nvSpPr>
        <p:spPr>
          <a:xfrm>
            <a:off x="7172280" y="2104920"/>
            <a:ext cx="114120" cy="9000"/>
          </a:xfrm>
          <a:prstGeom prst="roundRect">
            <a:avLst>
              <a:gd name="adj" fmla="val 16667"/>
            </a:avLst>
          </a:prstGeom>
          <a:solidFill>
            <a:srgbClr val="294e4e"/>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1" name=""/>
          <p:cNvSpPr/>
          <p:nvPr/>
        </p:nvSpPr>
        <p:spPr>
          <a:xfrm>
            <a:off x="47628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2" name=""/>
          <p:cNvSpPr/>
          <p:nvPr/>
        </p:nvSpPr>
        <p:spPr>
          <a:xfrm>
            <a:off x="109548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3" name=""/>
          <p:cNvSpPr/>
          <p:nvPr/>
        </p:nvSpPr>
        <p:spPr>
          <a:xfrm>
            <a:off x="183816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4" name=""/>
          <p:cNvSpPr/>
          <p:nvPr/>
        </p:nvSpPr>
        <p:spPr>
          <a:xfrm>
            <a:off x="245736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5" name=""/>
          <p:cNvSpPr/>
          <p:nvPr/>
        </p:nvSpPr>
        <p:spPr>
          <a:xfrm>
            <a:off x="320040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6" name=""/>
          <p:cNvSpPr/>
          <p:nvPr/>
        </p:nvSpPr>
        <p:spPr>
          <a:xfrm>
            <a:off x="381960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7" name=""/>
          <p:cNvSpPr/>
          <p:nvPr/>
        </p:nvSpPr>
        <p:spPr>
          <a:xfrm>
            <a:off x="456264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8" name=""/>
          <p:cNvSpPr/>
          <p:nvPr/>
        </p:nvSpPr>
        <p:spPr>
          <a:xfrm>
            <a:off x="518148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9" name=""/>
          <p:cNvSpPr/>
          <p:nvPr/>
        </p:nvSpPr>
        <p:spPr>
          <a:xfrm>
            <a:off x="592452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0" name=""/>
          <p:cNvSpPr/>
          <p:nvPr/>
        </p:nvSpPr>
        <p:spPr>
          <a:xfrm>
            <a:off x="654372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1" name=""/>
          <p:cNvSpPr/>
          <p:nvPr/>
        </p:nvSpPr>
        <p:spPr>
          <a:xfrm>
            <a:off x="7286760" y="2000160"/>
            <a:ext cx="1247400" cy="209160"/>
          </a:xfrm>
          <a:prstGeom prst="roundRect">
            <a:avLst>
              <a:gd name="adj" fmla="val 16667"/>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2" name=""/>
          <p:cNvSpPr/>
          <p:nvPr/>
        </p:nvSpPr>
        <p:spPr>
          <a:xfrm>
            <a:off x="7905600" y="2209680"/>
            <a:ext cx="9000" cy="323640"/>
          </a:xfrm>
          <a:prstGeom prst="roundRect">
            <a:avLst>
              <a:gd name="adj" fmla="val 16667"/>
            </a:avLst>
          </a:prstGeom>
          <a:solidFill>
            <a:srgbClr val="294e4e"/>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3"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232121"/>
                </a:solidFill>
                <a:effectLst/>
                <a:uFillTx/>
                <a:latin typeface="EB Garamond"/>
              </a:rPr>
              <a:t>Data Cleanup</a:t>
            </a:r>
            <a:endParaRPr b="0" lang="en-US" sz="2600" strike="noStrike" u="none">
              <a:solidFill>
                <a:srgbClr val="000000"/>
              </a:solidFill>
              <a:effectLst/>
              <a:uFillTx/>
              <a:latin typeface="OpenSymbol"/>
            </a:endParaRPr>
          </a:p>
        </p:txBody>
      </p:sp>
      <p:sp>
        <p:nvSpPr>
          <p:cNvPr id="44" name=""/>
          <p:cNvSpPr/>
          <p:nvPr/>
        </p:nvSpPr>
        <p:spPr>
          <a:xfrm>
            <a:off x="476280" y="1219320"/>
            <a:ext cx="1247400" cy="3614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Load Data</a:t>
            </a:r>
            <a:endParaRPr b="0" lang="en-US" sz="1400" strike="noStrike" u="none">
              <a:solidFill>
                <a:srgbClr val="000000"/>
              </a:solidFill>
              <a:effectLst/>
              <a:uFillTx/>
              <a:latin typeface="OpenSymbol"/>
            </a:endParaRPr>
          </a:p>
        </p:txBody>
      </p:sp>
      <p:sp>
        <p:nvSpPr>
          <p:cNvPr id="45" name=""/>
          <p:cNvSpPr/>
          <p:nvPr/>
        </p:nvSpPr>
        <p:spPr>
          <a:xfrm>
            <a:off x="476280" y="2619360"/>
            <a:ext cx="1247400" cy="21618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Loaded 50,000 transactions with 8 columns (customer, purchase amount, category, country, payment, date, etc.).</a:t>
            </a:r>
            <a:endParaRPr b="0" lang="en-US" sz="1200" strike="noStrike" u="none">
              <a:solidFill>
                <a:srgbClr val="000000"/>
              </a:solidFill>
              <a:effectLst/>
              <a:uFillTx/>
              <a:latin typeface="OpenSymbol"/>
            </a:endParaRPr>
          </a:p>
        </p:txBody>
      </p:sp>
      <p:sp>
        <p:nvSpPr>
          <p:cNvPr id="46" name=""/>
          <p:cNvSpPr/>
          <p:nvPr/>
        </p:nvSpPr>
        <p:spPr>
          <a:xfrm>
            <a:off x="1838160" y="1219320"/>
            <a:ext cx="1247400" cy="3614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Deduplicate</a:t>
            </a:r>
            <a:endParaRPr b="0" lang="en-US" sz="1400" strike="noStrike" u="none">
              <a:solidFill>
                <a:srgbClr val="000000"/>
              </a:solidFill>
              <a:effectLst/>
              <a:uFillTx/>
              <a:latin typeface="OpenSymbol"/>
            </a:endParaRPr>
          </a:p>
        </p:txBody>
      </p:sp>
      <p:sp>
        <p:nvSpPr>
          <p:cNvPr id="47" name=""/>
          <p:cNvSpPr/>
          <p:nvPr/>
        </p:nvSpPr>
        <p:spPr>
          <a:xfrm>
            <a:off x="1838160" y="2619360"/>
            <a:ext cx="1247400" cy="10663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Removed duplicate Transaction IDs to ensure unique records.</a:t>
            </a:r>
            <a:endParaRPr b="0" lang="en-US" sz="1200" strike="noStrike" u="none">
              <a:solidFill>
                <a:srgbClr val="000000"/>
              </a:solidFill>
              <a:effectLst/>
              <a:uFillTx/>
              <a:latin typeface="OpenSymbol"/>
            </a:endParaRPr>
          </a:p>
        </p:txBody>
      </p:sp>
      <p:sp>
        <p:nvSpPr>
          <p:cNvPr id="48" name=""/>
          <p:cNvSpPr/>
          <p:nvPr/>
        </p:nvSpPr>
        <p:spPr>
          <a:xfrm>
            <a:off x="320040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Standardize Fields</a:t>
            </a:r>
            <a:endParaRPr b="0" lang="en-US" sz="1400" strike="noStrike" u="none">
              <a:solidFill>
                <a:srgbClr val="000000"/>
              </a:solidFill>
              <a:effectLst/>
              <a:uFillTx/>
              <a:latin typeface="OpenSymbol"/>
            </a:endParaRPr>
          </a:p>
        </p:txBody>
      </p:sp>
      <p:sp>
        <p:nvSpPr>
          <p:cNvPr id="49" name=""/>
          <p:cNvSpPr/>
          <p:nvPr/>
        </p:nvSpPr>
        <p:spPr>
          <a:xfrm>
            <a:off x="3200400" y="2619360"/>
            <a:ext cx="1247400" cy="10663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Normalized age and purchase amount formats for consistency.</a:t>
            </a:r>
            <a:endParaRPr b="0" lang="en-US" sz="1200" strike="noStrike" u="none">
              <a:solidFill>
                <a:srgbClr val="000000"/>
              </a:solidFill>
              <a:effectLst/>
              <a:uFillTx/>
              <a:latin typeface="OpenSymbol"/>
            </a:endParaRPr>
          </a:p>
        </p:txBody>
      </p:sp>
      <p:sp>
        <p:nvSpPr>
          <p:cNvPr id="50" name=""/>
          <p:cNvSpPr/>
          <p:nvPr/>
        </p:nvSpPr>
        <p:spPr>
          <a:xfrm>
            <a:off x="456264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Date Normalize</a:t>
            </a:r>
            <a:endParaRPr b="0" lang="en-US" sz="1400" strike="noStrike" u="none">
              <a:solidFill>
                <a:srgbClr val="000000"/>
              </a:solidFill>
              <a:effectLst/>
              <a:uFillTx/>
              <a:latin typeface="OpenSymbol"/>
            </a:endParaRPr>
          </a:p>
        </p:txBody>
      </p:sp>
      <p:sp>
        <p:nvSpPr>
          <p:cNvPr id="51" name=""/>
          <p:cNvSpPr/>
          <p:nvPr/>
        </p:nvSpPr>
        <p:spPr>
          <a:xfrm>
            <a:off x="4562640" y="2619360"/>
            <a:ext cx="1247400" cy="8856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Standardized Transaction Date to a uniform format.</a:t>
            </a:r>
            <a:endParaRPr b="0" lang="en-US" sz="1200" strike="noStrike" u="none">
              <a:solidFill>
                <a:srgbClr val="000000"/>
              </a:solidFill>
              <a:effectLst/>
              <a:uFillTx/>
              <a:latin typeface="OpenSymbol"/>
            </a:endParaRPr>
          </a:p>
        </p:txBody>
      </p:sp>
      <p:sp>
        <p:nvSpPr>
          <p:cNvPr id="52" name=""/>
          <p:cNvSpPr/>
          <p:nvPr/>
        </p:nvSpPr>
        <p:spPr>
          <a:xfrm>
            <a:off x="592452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Remove Blanks</a:t>
            </a:r>
            <a:endParaRPr b="0" lang="en-US" sz="1400" strike="noStrike" u="none">
              <a:solidFill>
                <a:srgbClr val="000000"/>
              </a:solidFill>
              <a:effectLst/>
              <a:uFillTx/>
              <a:latin typeface="OpenSymbol"/>
            </a:endParaRPr>
          </a:p>
        </p:txBody>
      </p:sp>
      <p:sp>
        <p:nvSpPr>
          <p:cNvPr id="53" name=""/>
          <p:cNvSpPr/>
          <p:nvPr/>
        </p:nvSpPr>
        <p:spPr>
          <a:xfrm>
            <a:off x="5924520" y="2619360"/>
            <a:ext cx="1247400" cy="7045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Removed blank rows to prevent data gaps.</a:t>
            </a:r>
            <a:endParaRPr b="0" lang="en-US" sz="1200" strike="noStrike" u="none">
              <a:solidFill>
                <a:srgbClr val="000000"/>
              </a:solidFill>
              <a:effectLst/>
              <a:uFillTx/>
              <a:latin typeface="OpenSymbol"/>
            </a:endParaRPr>
          </a:p>
        </p:txBody>
      </p:sp>
      <p:sp>
        <p:nvSpPr>
          <p:cNvPr id="54" name=""/>
          <p:cNvSpPr/>
          <p:nvPr/>
        </p:nvSpPr>
        <p:spPr>
          <a:xfrm>
            <a:off x="7286760" y="1219320"/>
            <a:ext cx="1247400" cy="58068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400" strike="noStrike" u="none">
                <a:solidFill>
                  <a:srgbClr val="232121"/>
                </a:solidFill>
                <a:effectLst/>
                <a:uFillTx/>
                <a:latin typeface="EB Garamond"/>
              </a:rPr>
              <a:t>Define Cohorts</a:t>
            </a:r>
            <a:endParaRPr b="0" lang="en-US" sz="1400" strike="noStrike" u="none">
              <a:solidFill>
                <a:srgbClr val="000000"/>
              </a:solidFill>
              <a:effectLst/>
              <a:uFillTx/>
              <a:latin typeface="OpenSymbol"/>
            </a:endParaRPr>
          </a:p>
        </p:txBody>
      </p:sp>
      <p:sp>
        <p:nvSpPr>
          <p:cNvPr id="55" name=""/>
          <p:cNvSpPr/>
          <p:nvPr/>
        </p:nvSpPr>
        <p:spPr>
          <a:xfrm>
            <a:off x="7286760" y="2619360"/>
            <a:ext cx="1247400" cy="88560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232121"/>
                </a:solidFill>
                <a:effectLst/>
                <a:uFillTx/>
                <a:latin typeface="Cabin"/>
              </a:rPr>
              <a:t>Created age groups: Under 18; 18–35; 36–60; 61+.</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232121"/>
                </a:solidFill>
                <a:effectLst/>
                <a:uFillTx/>
                <a:latin typeface="EB Garamond"/>
              </a:rPr>
              <a:t>Key Revenue Drivers</a:t>
            </a:r>
            <a:endParaRPr b="0" lang="en-US" sz="2400" strike="noStrike" u="none">
              <a:solidFill>
                <a:srgbClr val="000000"/>
              </a:solidFill>
              <a:effectLst/>
              <a:uFillTx/>
              <a:latin typeface="OpenSymbol"/>
            </a:endParaRPr>
          </a:p>
        </p:txBody>
      </p:sp>
      <p:sp>
        <p:nvSpPr>
          <p:cNvPr id="57" name=""/>
          <p:cNvSpPr/>
          <p:nvPr/>
        </p:nvSpPr>
        <p:spPr>
          <a:xfrm>
            <a:off x="476280" y="142884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232121"/>
                </a:solidFill>
                <a:effectLst/>
                <a:uFillTx/>
                <a:latin typeface="EB Garamond"/>
              </a:rPr>
              <a:t>$3,057,387</a:t>
            </a:r>
            <a:endParaRPr b="0" lang="en-US" sz="3600" strike="noStrike" u="none">
              <a:solidFill>
                <a:srgbClr val="000000"/>
              </a:solidFill>
              <a:effectLst/>
              <a:uFillTx/>
              <a:latin typeface="OpenSymbol"/>
            </a:endParaRPr>
          </a:p>
        </p:txBody>
      </p:sp>
      <p:sp>
        <p:nvSpPr>
          <p:cNvPr id="58" name=""/>
          <p:cNvSpPr/>
          <p:nvPr/>
        </p:nvSpPr>
        <p:spPr>
          <a:xfrm>
            <a:off x="3809880" y="142884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232121"/>
                </a:solidFill>
                <a:effectLst/>
                <a:uFillTx/>
                <a:latin typeface="Cabin"/>
              </a:rPr>
              <a:t>Beauty leads by purchase value in the period.</a:t>
            </a:r>
            <a:endParaRPr b="0" lang="en-US" sz="1400" strike="noStrike" u="none">
              <a:solidFill>
                <a:srgbClr val="000000"/>
              </a:solidFill>
              <a:effectLst/>
              <a:uFillTx/>
              <a:latin typeface="OpenSymbol"/>
            </a:endParaRPr>
          </a:p>
        </p:txBody>
      </p:sp>
      <p:sp>
        <p:nvSpPr>
          <p:cNvPr id="59" name=""/>
          <p:cNvSpPr/>
          <p:nvPr/>
        </p:nvSpPr>
        <p:spPr>
          <a:xfrm>
            <a:off x="476280" y="207648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232121"/>
                </a:solidFill>
                <a:effectLst/>
                <a:uFillTx/>
                <a:latin typeface="EB Garamond"/>
              </a:rPr>
              <a:t>$2,514,911</a:t>
            </a:r>
            <a:endParaRPr b="0" lang="en-US" sz="3600" strike="noStrike" u="none">
              <a:solidFill>
                <a:srgbClr val="000000"/>
              </a:solidFill>
              <a:effectLst/>
              <a:uFillTx/>
              <a:latin typeface="OpenSymbol"/>
            </a:endParaRPr>
          </a:p>
        </p:txBody>
      </p:sp>
      <p:sp>
        <p:nvSpPr>
          <p:cNvPr id="60" name=""/>
          <p:cNvSpPr/>
          <p:nvPr/>
        </p:nvSpPr>
        <p:spPr>
          <a:xfrm>
            <a:off x="3809880" y="207648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232121"/>
                </a:solidFill>
                <a:effectLst/>
                <a:uFillTx/>
                <a:latin typeface="Cabin"/>
              </a:rPr>
              <a:t>Australia is the top country by spend.</a:t>
            </a:r>
            <a:endParaRPr b="0" lang="en-US" sz="1400" strike="noStrike" u="none">
              <a:solidFill>
                <a:srgbClr val="000000"/>
              </a:solidFill>
              <a:effectLst/>
              <a:uFillTx/>
              <a:latin typeface="OpenSymbol"/>
            </a:endParaRPr>
          </a:p>
        </p:txBody>
      </p:sp>
      <p:sp>
        <p:nvSpPr>
          <p:cNvPr id="61" name=""/>
          <p:cNvSpPr/>
          <p:nvPr/>
        </p:nvSpPr>
        <p:spPr>
          <a:xfrm>
            <a:off x="476280" y="272412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232121"/>
                </a:solidFill>
                <a:effectLst/>
                <a:uFillTx/>
                <a:latin typeface="EB Garamond"/>
              </a:rPr>
              <a:t>$8,541,038</a:t>
            </a:r>
            <a:endParaRPr b="0" lang="en-US" sz="3600" strike="noStrike" u="none">
              <a:solidFill>
                <a:srgbClr val="000000"/>
              </a:solidFill>
              <a:effectLst/>
              <a:uFillTx/>
              <a:latin typeface="OpenSymbol"/>
            </a:endParaRPr>
          </a:p>
        </p:txBody>
      </p:sp>
      <p:sp>
        <p:nvSpPr>
          <p:cNvPr id="62" name=""/>
          <p:cNvSpPr/>
          <p:nvPr/>
        </p:nvSpPr>
        <p:spPr>
          <a:xfrm>
            <a:off x="3809880" y="272412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232121"/>
                </a:solidFill>
                <a:effectLst/>
                <a:uFillTx/>
                <a:latin typeface="Cabin"/>
              </a:rPr>
              <a:t>18–35 age cohort drives the largest revenue.</a:t>
            </a:r>
            <a:endParaRPr b="0" lang="en-US" sz="1400" strike="noStrike" u="none">
              <a:solidFill>
                <a:srgbClr val="000000"/>
              </a:solidFill>
              <a:effectLst/>
              <a:uFillTx/>
              <a:latin typeface="OpenSymbol"/>
            </a:endParaRPr>
          </a:p>
        </p:txBody>
      </p:sp>
      <p:sp>
        <p:nvSpPr>
          <p:cNvPr id="63" name=""/>
          <p:cNvSpPr/>
          <p:nvPr/>
        </p:nvSpPr>
        <p:spPr>
          <a:xfrm>
            <a:off x="476280" y="337176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232121"/>
                </a:solidFill>
                <a:effectLst/>
                <a:uFillTx/>
                <a:latin typeface="EB Garamond"/>
              </a:rPr>
              <a:t>8,434</a:t>
            </a:r>
            <a:endParaRPr b="0" lang="en-US" sz="3600" strike="noStrike" u="none">
              <a:solidFill>
                <a:srgbClr val="000000"/>
              </a:solidFill>
              <a:effectLst/>
              <a:uFillTx/>
              <a:latin typeface="OpenSymbol"/>
            </a:endParaRPr>
          </a:p>
        </p:txBody>
      </p:sp>
      <p:sp>
        <p:nvSpPr>
          <p:cNvPr id="64" name=""/>
          <p:cNvSpPr/>
          <p:nvPr/>
        </p:nvSpPr>
        <p:spPr>
          <a:xfrm>
            <a:off x="3809880" y="337176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232121"/>
                </a:solidFill>
                <a:effectLst/>
                <a:uFillTx/>
                <a:latin typeface="Cabin"/>
              </a:rPr>
              <a:t>UPI accounts for this transaction count.</a:t>
            </a:r>
            <a:endParaRPr b="0" lang="en-US" sz="1400" strike="noStrike" u="none">
              <a:solidFill>
                <a:srgbClr val="000000"/>
              </a:solidFill>
              <a:effectLst/>
              <a:uFillTx/>
              <a:latin typeface="OpenSymbol"/>
            </a:endParaRPr>
          </a:p>
        </p:txBody>
      </p:sp>
      <p:sp>
        <p:nvSpPr>
          <p:cNvPr id="65" name=""/>
          <p:cNvSpPr/>
          <p:nvPr/>
        </p:nvSpPr>
        <p:spPr>
          <a:xfrm>
            <a:off x="476280" y="401940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3600" strike="noStrike" u="none">
                <a:solidFill>
                  <a:srgbClr val="232121"/>
                </a:solidFill>
                <a:effectLst/>
                <a:uFillTx/>
                <a:latin typeface="EB Garamond"/>
              </a:rPr>
              <a:t>$2,157,491</a:t>
            </a:r>
            <a:endParaRPr b="0" lang="en-US" sz="3600" strike="noStrike" u="none">
              <a:solidFill>
                <a:srgbClr val="000000"/>
              </a:solidFill>
              <a:effectLst/>
              <a:uFillTx/>
              <a:latin typeface="OpenSymbol"/>
            </a:endParaRPr>
          </a:p>
        </p:txBody>
      </p:sp>
      <p:sp>
        <p:nvSpPr>
          <p:cNvPr id="66" name=""/>
          <p:cNvSpPr/>
          <p:nvPr/>
        </p:nvSpPr>
        <p:spPr>
          <a:xfrm>
            <a:off x="3809880" y="401940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232121"/>
                </a:solidFill>
                <a:effectLst/>
                <a:uFillTx/>
                <a:latin typeface="Cabin"/>
              </a:rPr>
              <a:t>January total purchase amount anchors monthly baseline.</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232121"/>
                </a:solidFill>
                <a:effectLst/>
                <a:uFillTx/>
                <a:latin typeface="EB Garamond"/>
              </a:rPr>
              <a:t>18–35 Revenue Leader</a:t>
            </a:r>
            <a:endParaRPr b="0" lang="en-US" sz="2400" strike="noStrike" u="none">
              <a:solidFill>
                <a:srgbClr val="000000"/>
              </a:solidFill>
              <a:effectLst/>
              <a:uFillTx/>
              <a:latin typeface="OpenSymbol"/>
            </a:endParaRPr>
          </a:p>
        </p:txBody>
      </p:sp>
      <p:sp>
        <p:nvSpPr>
          <p:cNvPr id="68" name=""/>
          <p:cNvSpPr/>
          <p:nvPr/>
        </p:nvSpPr>
        <p:spPr>
          <a:xfrm>
            <a:off x="476280" y="1333440"/>
            <a:ext cx="3904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Total purchases by 18–35: $8,541,038.11. They generate the largest gross purchase amount, making this cohort the top target for volume-driven campaigns.</a:t>
            </a:r>
            <a:endParaRPr b="0" lang="en-US" sz="1200" strike="noStrike" u="none">
              <a:solidFill>
                <a:srgbClr val="000000"/>
              </a:solidFill>
              <a:effectLst/>
              <a:uFillTx/>
              <a:latin typeface="OpenSymbol"/>
            </a:endParaRPr>
          </a:p>
        </p:txBody>
      </p:sp>
      <p:sp>
        <p:nvSpPr>
          <p:cNvPr id="69" name=""/>
          <p:cNvSpPr/>
          <p:nvPr/>
        </p:nvSpPr>
        <p:spPr>
          <a:xfrm>
            <a:off x="4762440" y="1333440"/>
            <a:ext cx="3904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All other cohorts combined fall short of the 18–35’s gross total. Because cost, margin, and customer lifetime value are missing, we cannot determine profitability from this data alone.</a:t>
            </a:r>
            <a:endParaRPr b="0" lang="en-US" sz="1200" strike="noStrike" u="none">
              <a:solidFill>
                <a:srgbClr val="000000"/>
              </a:solidFill>
              <a:effectLst/>
              <a:uFillTx/>
              <a:latin typeface="OpenSymbol"/>
            </a:endParaRPr>
          </a:p>
        </p:txBody>
      </p:sp>
      <p:sp>
        <p:nvSpPr>
          <p:cNvPr id="70"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Largest gross contributor, but profitability remains unknown.</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
          <p:cNvSpPr/>
          <p:nvPr/>
        </p:nvSpPr>
        <p:spPr>
          <a:xfrm>
            <a:off x="723960" y="2143080"/>
            <a:ext cx="7457760" cy="121896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232121"/>
                </a:solidFill>
                <a:effectLst/>
                <a:uFillTx/>
                <a:latin typeface="Cabin"/>
              </a:rPr>
              <a:t>Focus merchandising and promotions on Beauty, the top category by revenue ($3.06M). Target the 18–35 segment—the largest contributor at $8.54M. Maintain COD for 8,434 transactions while introducing digital-payment incentives. Allocate marketing spend to Australia ($2.51M) and test localized offers there.</a:t>
            </a:r>
            <a:endParaRPr b="0" lang="en-US" sz="1400" strike="noStrike" u="none">
              <a:solidFill>
                <a:srgbClr val="000000"/>
              </a:solidFill>
              <a:effectLst/>
              <a:uFillTx/>
              <a:latin typeface="OpenSymbol"/>
            </a:endParaRPr>
          </a:p>
        </p:txBody>
      </p:sp>
      <p:sp>
        <p:nvSpPr>
          <p:cNvPr id="72" name=""/>
          <p:cNvSpPr/>
          <p:nvPr/>
        </p:nvSpPr>
        <p:spPr>
          <a:xfrm>
            <a:off x="723960" y="771480"/>
            <a:ext cx="7457760" cy="380520"/>
          </a:xfrm>
          <a:prstGeom prst="rect">
            <a:avLst/>
          </a:prstGeom>
          <a:noFill/>
          <a:ln w="0">
            <a:noFill/>
          </a:ln>
        </p:spPr>
        <p:style>
          <a:lnRef idx="0"/>
          <a:fillRef idx="0"/>
          <a:effectRef idx="0"/>
          <a:fontRef idx="minor"/>
        </p:style>
        <p:txBody>
          <a:bodyPr anchor="b">
            <a:normAutofit fontScale="77500" lnSpcReduction="19999"/>
          </a:bodyPr>
          <a:p>
            <a:pPr defTabSz="914400">
              <a:lnSpc>
                <a:spcPct val="100000"/>
              </a:lnSpc>
              <a:tabLst>
                <a:tab algn="l" pos="0"/>
              </a:tabLst>
            </a:pPr>
            <a:r>
              <a:rPr b="0" lang="en-US" sz="3000" strike="noStrike" u="none">
                <a:solidFill>
                  <a:srgbClr val="232121"/>
                </a:solidFill>
                <a:effectLst/>
                <a:uFillTx/>
                <a:latin typeface="EB Garamond"/>
              </a:rPr>
              <a:t>Beauty Focus</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p:nvPr/>
        </p:nvSpPr>
        <p:spPr>
          <a:xfrm>
            <a:off x="609480" y="1181160"/>
            <a:ext cx="2590560" cy="18720"/>
          </a:xfrm>
          <a:prstGeom prst="rect">
            <a:avLst/>
          </a:prstGeom>
          <a:solidFill>
            <a:srgbClr val="294e4e"/>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4" name=""/>
          <p:cNvSpPr/>
          <p:nvPr/>
        </p:nvSpPr>
        <p:spPr>
          <a:xfrm>
            <a:off x="3333600" y="1181160"/>
            <a:ext cx="2590560" cy="18720"/>
          </a:xfrm>
          <a:prstGeom prst="rect">
            <a:avLst/>
          </a:prstGeom>
          <a:solidFill>
            <a:srgbClr val="294e4e"/>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5" name=""/>
          <p:cNvSpPr/>
          <p:nvPr/>
        </p:nvSpPr>
        <p:spPr>
          <a:xfrm>
            <a:off x="6058080" y="1181160"/>
            <a:ext cx="3085920" cy="18720"/>
          </a:xfrm>
          <a:prstGeom prst="rect">
            <a:avLst/>
          </a:prstGeom>
          <a:solidFill>
            <a:srgbClr val="294e4e"/>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6" name=""/>
          <p:cNvSpPr/>
          <p:nvPr/>
        </p:nvSpPr>
        <p:spPr>
          <a:xfrm>
            <a:off x="476280" y="1114560"/>
            <a:ext cx="132840" cy="132840"/>
          </a:xfrm>
          <a:prstGeom prst="ellipse">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7" name=""/>
          <p:cNvSpPr/>
          <p:nvPr/>
        </p:nvSpPr>
        <p:spPr>
          <a:xfrm>
            <a:off x="3200400" y="1114560"/>
            <a:ext cx="132840" cy="132840"/>
          </a:xfrm>
          <a:prstGeom prst="ellipse">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8" name=""/>
          <p:cNvSpPr/>
          <p:nvPr/>
        </p:nvSpPr>
        <p:spPr>
          <a:xfrm>
            <a:off x="5924520" y="1114560"/>
            <a:ext cx="132840" cy="132840"/>
          </a:xfrm>
          <a:prstGeom prst="ellipse">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9" name=""/>
          <p:cNvSpPr/>
          <p:nvPr/>
        </p:nvSpPr>
        <p:spPr>
          <a:xfrm>
            <a:off x="0" y="3181320"/>
            <a:ext cx="475920" cy="18720"/>
          </a:xfrm>
          <a:prstGeom prst="rect">
            <a:avLst/>
          </a:prstGeom>
          <a:solidFill>
            <a:srgbClr val="294e4e"/>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0" name=""/>
          <p:cNvSpPr/>
          <p:nvPr/>
        </p:nvSpPr>
        <p:spPr>
          <a:xfrm>
            <a:off x="609480" y="3181320"/>
            <a:ext cx="2590560" cy="18720"/>
          </a:xfrm>
          <a:prstGeom prst="rect">
            <a:avLst/>
          </a:prstGeom>
          <a:solidFill>
            <a:srgbClr val="294e4e"/>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1" name=""/>
          <p:cNvSpPr/>
          <p:nvPr/>
        </p:nvSpPr>
        <p:spPr>
          <a:xfrm>
            <a:off x="476280" y="3114720"/>
            <a:ext cx="132840" cy="132840"/>
          </a:xfrm>
          <a:prstGeom prst="ellipse">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2" name=""/>
          <p:cNvSpPr/>
          <p:nvPr/>
        </p:nvSpPr>
        <p:spPr>
          <a:xfrm>
            <a:off x="3200400" y="3114720"/>
            <a:ext cx="132840" cy="132840"/>
          </a:xfrm>
          <a:prstGeom prst="ellipse">
            <a:avLst/>
          </a:prstGeom>
          <a:solidFill>
            <a:srgbClr val="919996"/>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83"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232121"/>
                </a:solidFill>
                <a:effectLst/>
                <a:uFillTx/>
                <a:latin typeface="EB Garamond"/>
              </a:rPr>
              <a:t>Gaps &amp; Plan</a:t>
            </a:r>
            <a:endParaRPr b="0" lang="en-US" sz="2600" strike="noStrike" u="none">
              <a:solidFill>
                <a:srgbClr val="000000"/>
              </a:solidFill>
              <a:effectLst/>
              <a:uFillTx/>
              <a:latin typeface="OpenSymbol"/>
            </a:endParaRPr>
          </a:p>
        </p:txBody>
      </p:sp>
      <p:sp>
        <p:nvSpPr>
          <p:cNvPr id="84" name=""/>
          <p:cNvSpPr/>
          <p:nvPr/>
        </p:nvSpPr>
        <p:spPr>
          <a:xfrm>
            <a:off x="47628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232121"/>
                </a:solidFill>
                <a:effectLst/>
                <a:uFillTx/>
                <a:latin typeface="EB Garamond"/>
              </a:rPr>
              <a:t>Missing Profit</a:t>
            </a:r>
            <a:endParaRPr b="0" lang="en-US" sz="1400" strike="noStrike" u="none">
              <a:solidFill>
                <a:srgbClr val="000000"/>
              </a:solidFill>
              <a:effectLst/>
              <a:uFillTx/>
              <a:latin typeface="OpenSymbol"/>
            </a:endParaRPr>
          </a:p>
        </p:txBody>
      </p:sp>
      <p:sp>
        <p:nvSpPr>
          <p:cNvPr id="85" name=""/>
          <p:cNvSpPr/>
          <p:nvPr/>
        </p:nvSpPr>
        <p:spPr>
          <a:xfrm>
            <a:off x="476280" y="1962000"/>
            <a:ext cx="25714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We lack cost and margin data, so profitability cannot be measured yet.</a:t>
            </a:r>
            <a:endParaRPr b="0" lang="en-US" sz="1200" strike="noStrike" u="none">
              <a:solidFill>
                <a:srgbClr val="000000"/>
              </a:solidFill>
              <a:effectLst/>
              <a:uFillTx/>
              <a:latin typeface="OpenSymbol"/>
            </a:endParaRPr>
          </a:p>
        </p:txBody>
      </p:sp>
      <p:sp>
        <p:nvSpPr>
          <p:cNvPr id="86" name=""/>
          <p:cNvSpPr/>
          <p:nvPr/>
        </p:nvSpPr>
        <p:spPr>
          <a:xfrm>
            <a:off x="320040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232121"/>
                </a:solidFill>
                <a:effectLst/>
                <a:uFillTx/>
                <a:latin typeface="EB Garamond"/>
              </a:rPr>
              <a:t>No Qty/Discount</a:t>
            </a:r>
            <a:endParaRPr b="0" lang="en-US" sz="1400" strike="noStrike" u="none">
              <a:solidFill>
                <a:srgbClr val="000000"/>
              </a:solidFill>
              <a:effectLst/>
              <a:uFillTx/>
              <a:latin typeface="OpenSymbol"/>
            </a:endParaRPr>
          </a:p>
        </p:txBody>
      </p:sp>
      <p:sp>
        <p:nvSpPr>
          <p:cNvPr id="87" name=""/>
          <p:cNvSpPr/>
          <p:nvPr/>
        </p:nvSpPr>
        <p:spPr>
          <a:xfrm>
            <a:off x="3200400" y="1962000"/>
            <a:ext cx="257148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Unit volumes and discount effects require unit and discount fields.</a:t>
            </a:r>
            <a:endParaRPr b="0" lang="en-US" sz="1200" strike="noStrike" u="none">
              <a:solidFill>
                <a:srgbClr val="000000"/>
              </a:solidFill>
              <a:effectLst/>
              <a:uFillTx/>
              <a:latin typeface="OpenSymbol"/>
            </a:endParaRPr>
          </a:p>
        </p:txBody>
      </p:sp>
      <p:sp>
        <p:nvSpPr>
          <p:cNvPr id="88" name=""/>
          <p:cNvSpPr/>
          <p:nvPr/>
        </p:nvSpPr>
        <p:spPr>
          <a:xfrm>
            <a:off x="592452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232121"/>
                </a:solidFill>
                <a:effectLst/>
                <a:uFillTx/>
                <a:latin typeface="EB Garamond"/>
              </a:rPr>
              <a:t>Cohort LTV</a:t>
            </a:r>
            <a:endParaRPr b="0" lang="en-US" sz="1400" strike="noStrike" u="none">
              <a:solidFill>
                <a:srgbClr val="000000"/>
              </a:solidFill>
              <a:effectLst/>
              <a:uFillTx/>
              <a:latin typeface="OpenSymbol"/>
            </a:endParaRPr>
          </a:p>
        </p:txBody>
      </p:sp>
      <p:sp>
        <p:nvSpPr>
          <p:cNvPr id="89" name=""/>
          <p:cNvSpPr/>
          <p:nvPr/>
        </p:nvSpPr>
        <p:spPr>
          <a:xfrm>
            <a:off x="5924520" y="1962000"/>
            <a:ext cx="25714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Transaction IDs aren’t stable for repeat purchases; add stable customer IDs.</a:t>
            </a:r>
            <a:endParaRPr b="0" lang="en-US" sz="1200" strike="noStrike" u="none">
              <a:solidFill>
                <a:srgbClr val="000000"/>
              </a:solidFill>
              <a:effectLst/>
              <a:uFillTx/>
              <a:latin typeface="OpenSymbol"/>
            </a:endParaRPr>
          </a:p>
        </p:txBody>
      </p:sp>
      <p:sp>
        <p:nvSpPr>
          <p:cNvPr id="90" name=""/>
          <p:cNvSpPr/>
          <p:nvPr/>
        </p:nvSpPr>
        <p:spPr>
          <a:xfrm>
            <a:off x="476280" y="329580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232121"/>
                </a:solidFill>
                <a:effectLst/>
                <a:uFillTx/>
                <a:latin typeface="EB Garamond"/>
              </a:rPr>
              <a:t>Time Series</a:t>
            </a:r>
            <a:endParaRPr b="0" lang="en-US" sz="1400" strike="noStrike" u="none">
              <a:solidFill>
                <a:srgbClr val="000000"/>
              </a:solidFill>
              <a:effectLst/>
              <a:uFillTx/>
              <a:latin typeface="OpenSymbol"/>
            </a:endParaRPr>
          </a:p>
        </p:txBody>
      </p:sp>
      <p:sp>
        <p:nvSpPr>
          <p:cNvPr id="91" name=""/>
          <p:cNvSpPr/>
          <p:nvPr/>
        </p:nvSpPr>
        <p:spPr>
          <a:xfrm>
            <a:off x="476280" y="3962520"/>
            <a:ext cx="257148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Compare additional time periods to reveal trends and seasonality.</a:t>
            </a:r>
            <a:endParaRPr b="0" lang="en-US" sz="1200" strike="noStrike" u="none">
              <a:solidFill>
                <a:srgbClr val="000000"/>
              </a:solidFill>
              <a:effectLst/>
              <a:uFillTx/>
              <a:latin typeface="OpenSymbol"/>
            </a:endParaRPr>
          </a:p>
        </p:txBody>
      </p:sp>
      <p:sp>
        <p:nvSpPr>
          <p:cNvPr id="92" name=""/>
          <p:cNvSpPr/>
          <p:nvPr/>
        </p:nvSpPr>
        <p:spPr>
          <a:xfrm>
            <a:off x="3200400" y="329580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232121"/>
                </a:solidFill>
                <a:effectLst/>
                <a:uFillTx/>
                <a:latin typeface="EB Garamond"/>
              </a:rPr>
              <a:t>Ongoing Monitoring</a:t>
            </a:r>
            <a:endParaRPr b="0" lang="en-US" sz="1400" strike="noStrike" u="none">
              <a:solidFill>
                <a:srgbClr val="000000"/>
              </a:solidFill>
              <a:effectLst/>
              <a:uFillTx/>
              <a:latin typeface="OpenSymbol"/>
            </a:endParaRPr>
          </a:p>
        </p:txBody>
      </p:sp>
      <p:sp>
        <p:nvSpPr>
          <p:cNvPr id="93" name=""/>
          <p:cNvSpPr/>
          <p:nvPr/>
        </p:nvSpPr>
        <p:spPr>
          <a:xfrm>
            <a:off x="3200400" y="3962520"/>
            <a:ext cx="257148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232121"/>
                </a:solidFill>
                <a:effectLst/>
                <a:uFillTx/>
                <a:latin typeface="Cabin"/>
              </a:rPr>
              <a:t>Track KPIs via dashboard: category purchase amount, 18–35 revenue, payments, country revenue, and time-series growth.</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p:nvPr/>
        </p:nvSpPr>
        <p:spPr>
          <a:xfrm>
            <a:off x="723960" y="2143080"/>
            <a:ext cx="7457760" cy="1066320"/>
          </a:xfrm>
          <a:prstGeom prst="rect">
            <a:avLst/>
          </a:prstGeom>
          <a:noFill/>
          <a:ln w="0">
            <a:noFill/>
          </a:ln>
        </p:spPr>
        <p:style>
          <a:lnRef idx="0"/>
          <a:fillRef idx="0"/>
          <a:effectRef idx="0"/>
          <a:fontRef idx="minor"/>
        </p:style>
        <p:txBody>
          <a:bodyPr anchor="t">
            <a:normAutofit fontScale="85000" lnSpcReduction="9999"/>
          </a:bodyPr>
          <a:p>
            <a:pPr defTabSz="914400">
              <a:lnSpc>
                <a:spcPct val="150000"/>
              </a:lnSpc>
              <a:tabLst>
                <a:tab algn="l" pos="0"/>
              </a:tabLst>
            </a:pPr>
            <a:r>
              <a:rPr b="0" lang="en-US" sz="1400" strike="noStrike" u="none">
                <a:solidFill>
                  <a:srgbClr val="232121"/>
                </a:solidFill>
                <a:effectLst/>
                <a:uFillTx/>
                <a:latin typeface="Cabin"/>
              </a:rPr>
              <a:t>Prioritized actions concentrate inventory and promotions where revenue is strongest: Beauty, Australia, and ages 18–35. Targeted campaigns should lift marketing ROI, and aligning payment options with behavior boosts conversions. Dashboard KPIs guide ongoing decisions; full profit optimization requires the additional data outlined above.</a:t>
            </a:r>
            <a:endParaRPr b="0" lang="en-US" sz="1400" strike="noStrike" u="none">
              <a:solidFill>
                <a:srgbClr val="000000"/>
              </a:solidFill>
              <a:effectLst/>
              <a:uFillTx/>
              <a:latin typeface="OpenSymbol"/>
            </a:endParaRPr>
          </a:p>
        </p:txBody>
      </p:sp>
      <p:sp>
        <p:nvSpPr>
          <p:cNvPr id="95" name=""/>
          <p:cNvSpPr/>
          <p:nvPr/>
        </p:nvSpPr>
        <p:spPr>
          <a:xfrm>
            <a:off x="723960" y="771480"/>
            <a:ext cx="7457760" cy="380520"/>
          </a:xfrm>
          <a:prstGeom prst="rect">
            <a:avLst/>
          </a:prstGeom>
          <a:noFill/>
          <a:ln w="0">
            <a:noFill/>
          </a:ln>
        </p:spPr>
        <p:style>
          <a:lnRef idx="0"/>
          <a:fillRef idx="0"/>
          <a:effectRef idx="0"/>
          <a:fontRef idx="minor"/>
        </p:style>
        <p:txBody>
          <a:bodyPr anchor="b">
            <a:normAutofit fontScale="77500" lnSpcReduction="19999"/>
          </a:bodyPr>
          <a:p>
            <a:pPr defTabSz="914400">
              <a:lnSpc>
                <a:spcPct val="100000"/>
              </a:lnSpc>
              <a:tabLst>
                <a:tab algn="l" pos="0"/>
              </a:tabLst>
            </a:pPr>
            <a:r>
              <a:rPr b="0" lang="en-US" sz="3000" strike="noStrike" u="none">
                <a:solidFill>
                  <a:srgbClr val="232121"/>
                </a:solidFill>
                <a:effectLst/>
                <a:uFillTx/>
                <a:latin typeface="EB Garamond"/>
              </a:rPr>
              <a:t>Revenue Impact</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723960" y="2143080"/>
            <a:ext cx="7457760" cy="10663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232121"/>
                </a:solidFill>
                <a:effectLst/>
                <a:uFillTx/>
                <a:latin typeface="Cabin"/>
              </a:rPr>
              <a:t>- Prioritize Beauty inventory and marketing, and target 18–35 shoppers to boost revenue efficiency.</a:t>
            </a:r>
            <a:endParaRPr b="0" lang="en-US" sz="1400" strike="noStrike" u="none">
              <a:solidFill>
                <a:srgbClr val="000000"/>
              </a:solidFill>
              <a:effectLst/>
              <a:uFillTx/>
              <a:latin typeface="OpenSymbol"/>
            </a:endParaRPr>
          </a:p>
          <a:p>
            <a:pPr defTabSz="914400">
              <a:lnSpc>
                <a:spcPct val="150000"/>
              </a:lnSpc>
              <a:tabLst>
                <a:tab algn="l" pos="0"/>
              </a:tabLst>
            </a:pPr>
            <a:r>
              <a:rPr b="0" lang="en-US" sz="1400" strike="noStrike" u="none">
                <a:solidFill>
                  <a:srgbClr val="232121"/>
                </a:solidFill>
                <a:effectLst/>
                <a:uFillTx/>
                <a:latin typeface="Cabin"/>
              </a:rPr>
              <a:t>- Tailor country-level strategies for Australia to unlock local demand.</a:t>
            </a:r>
            <a:endParaRPr b="0" lang="en-US" sz="1400" strike="noStrike" u="none">
              <a:solidFill>
                <a:srgbClr val="000000"/>
              </a:solidFill>
              <a:effectLst/>
              <a:uFillTx/>
              <a:latin typeface="OpenSymbol"/>
            </a:endParaRPr>
          </a:p>
          <a:p>
            <a:pPr defTabSz="914400">
              <a:lnSpc>
                <a:spcPct val="150000"/>
              </a:lnSpc>
              <a:tabLst>
                <a:tab algn="l" pos="0"/>
              </a:tabLst>
            </a:pPr>
            <a:r>
              <a:rPr b="0" lang="en-US" sz="1400" strike="noStrike" u="none">
                <a:solidFill>
                  <a:srgbClr val="232121"/>
                </a:solidFill>
                <a:effectLst/>
                <a:uFillTx/>
                <a:latin typeface="Cabin"/>
              </a:rPr>
              <a:t>- Maintain COD while promoting digital payments; profitability and unit economics require follow-up data.</a:t>
            </a:r>
            <a:endParaRPr b="0" lang="en-US" sz="1400" strike="noStrike" u="none">
              <a:solidFill>
                <a:srgbClr val="000000"/>
              </a:solidFill>
              <a:effectLst/>
              <a:uFillTx/>
              <a:latin typeface="OpenSymbol"/>
            </a:endParaRPr>
          </a:p>
        </p:txBody>
      </p:sp>
      <p:sp>
        <p:nvSpPr>
          <p:cNvPr id="97" name=""/>
          <p:cNvSpPr/>
          <p:nvPr/>
        </p:nvSpPr>
        <p:spPr>
          <a:xfrm>
            <a:off x="723960" y="771480"/>
            <a:ext cx="7457760" cy="380520"/>
          </a:xfrm>
          <a:prstGeom prst="rect">
            <a:avLst/>
          </a:prstGeom>
          <a:noFill/>
          <a:ln w="0">
            <a:noFill/>
          </a:ln>
        </p:spPr>
        <p:style>
          <a:lnRef idx="0"/>
          <a:fillRef idx="0"/>
          <a:effectRef idx="0"/>
          <a:fontRef idx="minor"/>
        </p:style>
        <p:txBody>
          <a:bodyPr anchor="b">
            <a:normAutofit fontScale="77500" lnSpcReduction="19999"/>
          </a:bodyPr>
          <a:p>
            <a:pPr defTabSz="914400">
              <a:lnSpc>
                <a:spcPct val="100000"/>
              </a:lnSpc>
              <a:tabLst>
                <a:tab algn="l" pos="0"/>
              </a:tabLst>
            </a:pPr>
            <a:r>
              <a:rPr b="0" lang="en-US" sz="3000" strike="noStrike" u="none">
                <a:solidFill>
                  <a:srgbClr val="232121"/>
                </a:solidFill>
                <a:effectLst/>
                <a:uFillTx/>
                <a:latin typeface="EB Garamond"/>
              </a:rPr>
              <a:t>Revenue Levers</a:t>
            </a:r>
            <a:endParaRPr b="0" lang="en-US" sz="3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Google Shape;774;p63"/>
          <p:cNvSpPr/>
          <p:nvPr/>
        </p:nvSpPr>
        <p:spPr>
          <a:xfrm rot="2220000">
            <a:off x="3400200" y="2809800"/>
            <a:ext cx="885600" cy="475920"/>
          </a:xfrm>
          <a:prstGeom prst="rect">
            <a:avLst/>
          </a:prstGeom>
          <a:noFill/>
          <a:ln w="0">
            <a:noFill/>
          </a:ln>
        </p:spPr>
        <p:style>
          <a:lnRef idx="0"/>
          <a:fillRef idx="0"/>
          <a:effectRef idx="0"/>
          <a:fontRef idx="minor"/>
        </p:style>
        <p:txBody>
          <a:bodyPr lIns="870823080" rIns="870823080" tIns="237960" bIns="237960" anchor="ctr">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99" name="Google Shape;775;p63"/>
          <p:cNvSpPr/>
          <p:nvPr/>
        </p:nvSpPr>
        <p:spPr>
          <a:xfrm rot="2220000">
            <a:off x="4133880" y="2809800"/>
            <a:ext cx="885600" cy="475920"/>
          </a:xfrm>
          <a:prstGeom prst="rect">
            <a:avLst/>
          </a:prstGeom>
          <a:noFill/>
          <a:ln w="0">
            <a:noFill/>
          </a:ln>
        </p:spPr>
        <p:style>
          <a:lnRef idx="0"/>
          <a:fillRef idx="0"/>
          <a:effectRef idx="0"/>
          <a:fontRef idx="minor"/>
        </p:style>
        <p:txBody>
          <a:bodyPr lIns="870823080" rIns="870823080" tIns="237960" bIns="237960" anchor="ctr">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100" name="Google Shape;776;p63"/>
          <p:cNvSpPr/>
          <p:nvPr/>
        </p:nvSpPr>
        <p:spPr>
          <a:xfrm rot="2220000">
            <a:off x="4857840" y="2809800"/>
            <a:ext cx="885600" cy="475920"/>
          </a:xfrm>
          <a:prstGeom prst="rect">
            <a:avLst/>
          </a:prstGeom>
          <a:noFill/>
          <a:ln w="0">
            <a:noFill/>
          </a:ln>
        </p:spPr>
        <p:style>
          <a:lnRef idx="0"/>
          <a:fillRef idx="0"/>
          <a:effectRef idx="0"/>
          <a:fontRef idx="minor"/>
        </p:style>
        <p:txBody>
          <a:bodyPr lIns="870823080" rIns="870823080" tIns="237960" bIns="237960" anchor="ctr">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101" name="PlaceHolder 1"/>
          <p:cNvSpPr>
            <a:spLocks noGrp="1"/>
          </p:cNvSpPr>
          <p:nvPr>
            <p:ph type="title"/>
          </p:nvPr>
        </p:nvSpPr>
        <p:spPr>
          <a:xfrm>
            <a:off x="2514600" y="-288720"/>
            <a:ext cx="4114440" cy="1707480"/>
          </a:xfrm>
          <a:prstGeom prst="rect">
            <a:avLst/>
          </a:prstGeom>
          <a:noFill/>
          <a:ln w="0">
            <a:noFill/>
          </a:ln>
        </p:spPr>
        <p:txBody>
          <a:bodyPr lIns="91440" rIns="91440" tIns="91440" bIns="91440" anchor="b">
            <a:spAutoFit/>
          </a:bodyPr>
          <a:p>
            <a:pPr indent="0" algn="ctr">
              <a:lnSpc>
                <a:spcPct val="100000"/>
              </a:lnSpc>
              <a:buNone/>
              <a:tabLst>
                <a:tab algn="l" pos="0"/>
              </a:tabLst>
            </a:pPr>
            <a:r>
              <a:rPr b="0" lang="en" sz="5000" strike="noStrike" u="none">
                <a:solidFill>
                  <a:schemeClr val="lt1"/>
                </a:solidFill>
                <a:effectLst/>
                <a:uFillTx/>
                <a:latin typeface="EB Garamond"/>
                <a:ea typeface="EB Garamond"/>
              </a:rPr>
              <a:t>Thanks!</a:t>
            </a:r>
            <a:endParaRPr b="0" lang="fr-FR" sz="5000" strike="noStrike" u="none">
              <a:solidFill>
                <a:schemeClr val="dk1"/>
              </a:solidFill>
              <a:effectLst/>
              <a:uFillTx/>
              <a:latin typeface="Arial"/>
            </a:endParaRPr>
          </a:p>
        </p:txBody>
      </p:sp>
      <p:sp>
        <p:nvSpPr>
          <p:cNvPr id="102" name="PlaceHolder 2"/>
          <p:cNvSpPr>
            <a:spLocks noGrp="1"/>
          </p:cNvSpPr>
          <p:nvPr>
            <p:ph type="subTitle"/>
          </p:nvPr>
        </p:nvSpPr>
        <p:spPr>
          <a:xfrm>
            <a:off x="2514600" y="1257480"/>
            <a:ext cx="4114440" cy="133380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400" strike="noStrike" u="none">
                <a:solidFill>
                  <a:schemeClr val="lt1"/>
                </a:solidFill>
                <a:effectLst/>
                <a:uFillTx/>
                <a:latin typeface="Cabin"/>
                <a:ea typeface="Cabin"/>
              </a:rPr>
              <a:t>Do you have any questions?</a:t>
            </a:r>
            <a:endParaRPr b="0" lang="en-US" sz="1400" strike="noStrike" u="none">
              <a:solidFill>
                <a:srgbClr val="ffffff"/>
              </a:solidFill>
              <a:effectLst/>
              <a:uFillTx/>
              <a:latin typeface="OpenSymbol"/>
            </a:endParaRPr>
          </a:p>
          <a:p>
            <a:pPr indent="0" algn="ctr">
              <a:lnSpc>
                <a:spcPct val="100000"/>
              </a:lnSpc>
              <a:spcBef>
                <a:spcPts val="1001"/>
              </a:spcBef>
              <a:buNone/>
              <a:tabLst>
                <a:tab algn="l" pos="0"/>
              </a:tabLst>
            </a:pPr>
            <a:r>
              <a:rPr b="0" lang="en" sz="1400" strike="noStrike" u="none">
                <a:solidFill>
                  <a:schemeClr val="lt1"/>
                </a:solidFill>
                <a:effectLst/>
                <a:uFillTx/>
                <a:latin typeface="Cabin"/>
                <a:ea typeface="Cabin"/>
              </a:rPr>
              <a:t>youremail@freepik.com </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lt1"/>
                </a:solidFill>
                <a:effectLst/>
                <a:uFillTx/>
                <a:latin typeface="Cabin"/>
                <a:ea typeface="Cabin"/>
              </a:rPr>
              <a:t>+91  620 421 838 </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lt1"/>
                </a:solidFill>
                <a:effectLst/>
                <a:uFillTx/>
                <a:latin typeface="Cabin"/>
                <a:ea typeface="Cabin"/>
              </a:rPr>
              <a:t>yourcompany.com</a:t>
            </a:r>
            <a:endParaRPr b="0" lang="en-US" sz="1400" strike="noStrike" u="none">
              <a:solidFill>
                <a:srgbClr val="ffffff"/>
              </a:solidFill>
              <a:effectLst/>
              <a:uFillTx/>
              <a:latin typeface="OpenSymbol"/>
            </a:endParaRPr>
          </a:p>
        </p:txBody>
      </p:sp>
      <p:sp>
        <p:nvSpPr>
          <p:cNvPr id="103" name="Google Shape;779;p63"/>
          <p:cNvSpPr/>
          <p:nvPr/>
        </p:nvSpPr>
        <p:spPr>
          <a:xfrm>
            <a:off x="3076560" y="4172040"/>
            <a:ext cx="2999880" cy="437760"/>
          </a:xfrm>
          <a:prstGeom prst="rect">
            <a:avLst/>
          </a:prstGeom>
          <a:noFill/>
          <a:ln w="0">
            <a:noFill/>
          </a:ln>
        </p:spPr>
        <p:style>
          <a:lnRef idx="0"/>
          <a:fillRef idx="0"/>
          <a:effectRef idx="0"/>
          <a:fontRef idx="minor"/>
        </p:style>
        <p:txBody>
          <a:bodyPr lIns="870823080" rIns="870823080" tIns="-2893320" bIns="-2893320" anchor="t">
            <a:spAutoFit/>
          </a:bodyPr>
          <a:p>
            <a:pPr algn="ctr" defTabSz="914400">
              <a:lnSpc>
                <a:spcPct val="115000"/>
              </a:lnSpc>
              <a:spcBef>
                <a:spcPts val="300"/>
              </a:spcBef>
              <a:tabLst>
                <a:tab algn="l" pos="0"/>
              </a:tabLst>
            </a:pPr>
            <a:r>
              <a:rPr b="0" lang="en" sz="1000" strike="noStrike" u="none">
                <a:solidFill>
                  <a:schemeClr val="lt1"/>
                </a:solidFill>
                <a:effectLst/>
                <a:uFillTx/>
                <a:latin typeface="Arial"/>
              </a:rPr>
              <a:t>Please keep this slide for attribution</a:t>
            </a:r>
            <a:endParaRPr b="0" lang="en-US" sz="1000" strike="noStrike" u="none">
              <a:solidFill>
                <a:srgbClr val="ffffff"/>
              </a:solidFill>
              <a:effectLst/>
              <a:uFillTx/>
              <a:latin typeface="OpenSymbol"/>
            </a:endParaRPr>
          </a:p>
        </p:txBody>
      </p:sp>
      <p:sp>
        <p:nvSpPr>
          <p:cNvPr id="104" name="Google Shape;780;p63"/>
          <p:cNvSpPr/>
          <p:nvPr/>
        </p:nvSpPr>
        <p:spPr>
          <a:xfrm>
            <a:off x="3666600" y="287172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5" name="Google Shape;781;p63"/>
          <p:cNvGrpSpPr/>
          <p:nvPr/>
        </p:nvGrpSpPr>
        <p:grpSpPr>
          <a:xfrm>
            <a:off x="4398840" y="2871720"/>
            <a:ext cx="345600" cy="345240"/>
            <a:chOff x="4398840" y="2871720"/>
            <a:chExt cx="345600" cy="345240"/>
          </a:xfrm>
        </p:grpSpPr>
        <p:sp>
          <p:nvSpPr>
            <p:cNvPr id="106" name="Google Shape;782;p63"/>
            <p:cNvSpPr/>
            <p:nvPr/>
          </p:nvSpPr>
          <p:spPr>
            <a:xfrm>
              <a:off x="4398840" y="28717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 name="Google Shape;783;p63"/>
            <p:cNvSpPr/>
            <p:nvPr/>
          </p:nvSpPr>
          <p:spPr>
            <a:xfrm>
              <a:off x="4463640" y="293688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 name="Google Shape;784;p63"/>
            <p:cNvSpPr/>
            <p:nvPr/>
          </p:nvSpPr>
          <p:spPr>
            <a:xfrm>
              <a:off x="4513680" y="298800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 name="Google Shape;785;p63"/>
            <p:cNvSpPr/>
            <p:nvPr/>
          </p:nvSpPr>
          <p:spPr>
            <a:xfrm>
              <a:off x="4614840" y="296460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0" name="Google Shape;786;p63"/>
          <p:cNvGrpSpPr/>
          <p:nvPr/>
        </p:nvGrpSpPr>
        <p:grpSpPr>
          <a:xfrm>
            <a:off x="5137200" y="2871720"/>
            <a:ext cx="345600" cy="345240"/>
            <a:chOff x="5137200" y="2871720"/>
            <a:chExt cx="345600" cy="345240"/>
          </a:xfrm>
        </p:grpSpPr>
        <p:sp>
          <p:nvSpPr>
            <p:cNvPr id="111" name="Google Shape;787;p63"/>
            <p:cNvSpPr/>
            <p:nvPr/>
          </p:nvSpPr>
          <p:spPr>
            <a:xfrm>
              <a:off x="5137200" y="287172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2" name="Google Shape;788;p63"/>
            <p:cNvSpPr/>
            <p:nvPr/>
          </p:nvSpPr>
          <p:spPr>
            <a:xfrm>
              <a:off x="5216760" y="301032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 name="Google Shape;789;p63"/>
            <p:cNvSpPr/>
            <p:nvPr/>
          </p:nvSpPr>
          <p:spPr>
            <a:xfrm>
              <a:off x="5209560" y="294444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 name="Google Shape;790;p63"/>
            <p:cNvSpPr/>
            <p:nvPr/>
          </p:nvSpPr>
          <p:spPr>
            <a:xfrm>
              <a:off x="5289480" y="301032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cxnSp>
        <p:nvCxnSpPr>
          <p:cNvPr id="115" name="Google Shape;791;p63"/>
          <p:cNvCxnSpPr/>
          <p:nvPr/>
        </p:nvCxnSpPr>
        <p:spPr>
          <a:xfrm flipH="1">
            <a:off x="-185400" y="-574200"/>
            <a:ext cx="726120" cy="4868280"/>
          </a:xfrm>
          <a:prstGeom prst="straightConnector1">
            <a:avLst/>
          </a:prstGeom>
          <a:ln w="9525">
            <a:solidFill>
              <a:srgbClr val="f0ebe1"/>
            </a:solidFill>
            <a:round/>
          </a:ln>
        </p:spPr>
      </p:cxnSp>
      <p:cxnSp>
        <p:nvCxnSpPr>
          <p:cNvPr id="116" name="Google Shape;792;p63"/>
          <p:cNvCxnSpPr/>
          <p:nvPr/>
        </p:nvCxnSpPr>
        <p:spPr>
          <a:xfrm flipH="1">
            <a:off x="8433360" y="275040"/>
            <a:ext cx="726480" cy="4868640"/>
          </a:xfrm>
          <a:prstGeom prst="straightConnector1">
            <a:avLst/>
          </a:prstGeom>
          <a:ln w="9525">
            <a:solidFill>
              <a:srgbClr val="f0ebe1"/>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mmunication and Announce Layoffs Workshop by Slidesgo">
  <a:themeElements>
    <a:clrScheme name="Simple Light">
      <a:dk1>
        <a:srgbClr val="232121"/>
      </a:dk1>
      <a:lt1>
        <a:srgbClr val="f0ebe1"/>
      </a:lt1>
      <a:dk2>
        <a:srgbClr val="919996"/>
      </a:dk2>
      <a:lt2>
        <a:srgbClr val="294e4e"/>
      </a:lt2>
      <a:accent1>
        <a:srgbClr val="578c8c"/>
      </a:accent1>
      <a:accent2>
        <a:srgbClr val="ffffff"/>
      </a:accent2>
      <a:accent3>
        <a:srgbClr val="ffffff"/>
      </a:accent3>
      <a:accent4>
        <a:srgbClr val="ffffff"/>
      </a:accent4>
      <a:accent5>
        <a:srgbClr val="ffffff"/>
      </a:accent5>
      <a:accent6>
        <a:srgbClr val="ffffff"/>
      </a:accent6>
      <a:hlink>
        <a:srgbClr val="f0ebe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2026-09-11T10:15:37Z</dcterms:created>
  <dc:creator>Slidesgo AI</dc:creator>
  <dc:description/>
  <dc:language>en-US</dc:language>
  <cp:lastModifiedBy>Unknown Creator</cp:lastModifiedBy>
  <dcterms:modified xsi:type="dcterms:W3CDTF">2026-09-11T10:15:37Z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a2b83bd0-277a-4079-bf13-4262f52f103d</vt:lpwstr>
  </property>
</Properties>
</file>